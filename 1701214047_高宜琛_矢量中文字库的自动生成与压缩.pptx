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001"/>
    <a:srgbClr val="AE3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33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B5F200-3E3B-4B4E-82DC-5F3D07FC4D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65F080-D520-4EA0-974C-93A4848B37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A710-781B-43B6-9D70-8889C8DCCB53}" type="datetimeFigureOut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22C5F7-5577-4341-857D-A7EDA1649F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338982-A8D1-430C-A80A-BD7623EE93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15C8C-30B1-4E8B-B7CF-796ED8F2D7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75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18F04-DDDC-449A-B6AA-BFE2912602A6}" type="datetimeFigureOut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7E9E3-E312-45B5-A28E-E95191020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42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DEDAF-D12D-4B3C-A05B-1808C26E5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7D48F0-BDD3-4B19-841C-2EF027164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88B43-702B-4AD1-ACF1-A46B8EAB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D733-51FA-421D-9288-599874C207F7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4F12F7-CB33-4BA6-9181-C4647EA9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2888C-FACB-46F4-B51C-9E78C778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9A0001"/>
                </a:solidFill>
              </a:defRPr>
            </a:lvl1pPr>
          </a:lstStyle>
          <a:p>
            <a:fld id="{1003C2F6-E224-4DE8-ABB8-1B4A7B626BCD}" type="slidenum">
              <a:rPr lang="zh-CN" altLang="en-US" smtClean="0"/>
              <a:pPr/>
              <a:t>‹#›</a:t>
            </a:fld>
            <a:r>
              <a:rPr lang="en-US" altLang="zh-CN" dirty="0"/>
              <a:t>/50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171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B1922-B759-45CE-8B2A-B3476791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6802B-8B84-4721-A0CE-7585FFFB3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0B749-7B37-4F06-AA2A-F8EE1EBA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E3A0-2621-4865-BDB2-22E360352098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86AF72-0D4D-4A1D-A8C3-9DCE277B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D1EF42-0CC2-4111-BA2F-6E2522C2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9A0001"/>
                </a:solidFill>
              </a:defRPr>
            </a:lvl1pPr>
          </a:lstStyle>
          <a:p>
            <a:fld id="{1003C2F6-E224-4DE8-ABB8-1B4A7B626BCD}" type="slidenum">
              <a:rPr lang="zh-CN" altLang="en-US" smtClean="0"/>
              <a:pPr/>
              <a:t>‹#›</a:t>
            </a:fld>
            <a:r>
              <a:rPr lang="en-US" altLang="zh-CN" dirty="0"/>
              <a:t>/50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79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1BBAF-A960-46C6-9D70-878D8BD50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957D95-2728-4835-A92D-97E80F734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81E63-7C5C-4CA0-9842-7C903E4D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C9EC3-E369-4861-9BE3-B3B66E4BEC4D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1CC04-0A41-4E0A-9C34-0CC5779F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2D112D-8736-4BDB-8FA1-A2D3F9E7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2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EEE8B-4B0D-442D-882F-490C426E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920299-08FC-4BFB-B58E-8F2775CFF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16B06-CC1C-4B81-8346-A6D2B48F6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D12B3D-57E6-492B-AAB4-09725D54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684D-ED2B-4DFA-96BD-F159EEEF2332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4EA61E-766C-4A0D-92D0-C2C9DDA6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DAE58E-666E-4A32-A31E-6534DA92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20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A37D2-8E75-4085-9D73-CE6CA922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EBF767-4E34-4A80-82F2-3FB9194E1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BB5A7D-233C-42B3-90F9-781856AE9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801910-512F-4616-892A-482A4D3D9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0DC1EA-E08E-469C-B62F-FAFE4C488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AFF2B2-AB41-4205-A64C-3FE4BA53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2D6A-32BD-4224-99F7-6390D7955B27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6FDEED-B53C-4F4E-B916-0A3EF7BD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94A266-F244-4869-A7B2-85CD9E11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41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81D3A-9BD1-4148-9D09-D4C7E0F8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92DA06-1E97-4D48-9287-E287126E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05D42-32C5-4EA7-8B95-867AE830DC47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868D8F-D3D7-498C-A1F5-B4430461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45725D-1CAC-4778-BC02-D11CEEB8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51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FD90E4-2D5A-49FD-948D-FE2BB107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A6FA-E63A-43BE-90D5-39AB14454881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2FD976-F401-4222-A04D-514EF7B2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5DFE4A-E655-4D2E-9753-9995B594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9A0001"/>
                </a:solidFill>
              </a:defRPr>
            </a:lvl1pPr>
          </a:lstStyle>
          <a:p>
            <a:fld id="{1003C2F6-E224-4DE8-ABB8-1B4A7B626BCD}" type="slidenum">
              <a:rPr lang="zh-CN" altLang="en-US" smtClean="0"/>
              <a:pPr/>
              <a:t>‹#›</a:t>
            </a:fld>
            <a:r>
              <a:rPr lang="en-US" altLang="zh-CN" dirty="0"/>
              <a:t>/50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6692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44B45-B42A-4BE3-9B09-A7B14A0F9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6C036B-CC31-4619-A61A-0813E92FD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15B82B-2043-4080-9828-197643E9B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36714-F236-4CC7-97F4-0BA7768F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5107A-4BD5-4337-8C43-65AD642E5A6B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2597AC-8940-4936-81B7-2EABC8B3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7A2176-0008-4EEA-BA4F-49845052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59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54B08-DA88-49DF-8231-C9BC14B2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92E2C1-CFD9-47C2-B51B-190B14F0D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ECE4F7-CB6B-4FE3-932A-CD86A8B7E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7EB21E-9966-4700-984D-E1D7A0C1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E401-40A6-410A-B920-16863192BAA7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8D2CA1-52E5-44C0-993C-CBE29526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C91D4B-3CB2-415D-A45C-1DC352E9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645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B2CEA-9DF2-461D-AACA-4731D6B9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C8C600-E90C-40ED-9CC8-2C76DD3BE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2A0166-DCDE-4BF8-9A3C-98D3FFF9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49C46-233A-41C0-B67D-4168518B63AE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7C33E-B758-4F25-90C0-5F862B73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1232F-CC71-446D-A28B-46CD1345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09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A15D92-B25A-42BB-BADD-26D2D4464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7D46BC-7A26-497F-94D1-D3DE8D28E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9A3E3-1E15-453D-BE10-0594C1B0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A172-17F4-4EAA-8820-206DC00F85CB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0EE25-E1AE-4BC7-91E6-A3E5DC93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D57E60-C956-430E-BF03-2036E28C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56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30CE13-51BE-490D-8078-EB6251B1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C417C3-E548-4337-BAB1-9115A2836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BE90C-EABC-4414-B00F-453B803BC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ED3F4-DF31-4764-BF1B-09BCF492A85A}" type="datetime1">
              <a:rPr lang="zh-CN" altLang="en-US" smtClean="0"/>
              <a:t>2020/5/25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88562-84A6-496B-B083-564D16A8C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90C0A-EA80-4A3F-9322-29503D2E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3C2F6-E224-4DE8-ABB8-1B4A7B626BCD}" type="slidenum">
              <a:rPr lang="zh-CN" altLang="en-US" smtClean="0"/>
              <a:pPr/>
              <a:t>‹#›</a:t>
            </a:fld>
            <a:r>
              <a:rPr lang="en-US" altLang="zh-CN" dirty="0"/>
              <a:t>/50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6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7AC6FD4-3084-494B-821D-D119D1498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6" y="1714500"/>
            <a:ext cx="9144000" cy="514350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3C9B5446-394F-4606-B99F-610B8606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219" y="752783"/>
            <a:ext cx="2877561" cy="847417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6DE6AEE3-E897-4C4A-B827-6376E0A19F0D}"/>
              </a:ext>
            </a:extLst>
          </p:cNvPr>
          <p:cNvSpPr/>
          <p:nvPr/>
        </p:nvSpPr>
        <p:spPr>
          <a:xfrm>
            <a:off x="344977" y="2389562"/>
            <a:ext cx="8454044" cy="5847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3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矢量中文字库的自动生成与压缩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7BDFD1F-FD13-4348-9EE7-7C3C99C65B41}"/>
              </a:ext>
            </a:extLst>
          </p:cNvPr>
          <p:cNvSpPr/>
          <p:nvPr/>
        </p:nvSpPr>
        <p:spPr>
          <a:xfrm>
            <a:off x="343932" y="3149365"/>
            <a:ext cx="84540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US" altLang="zh-CN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RESEARCHES ON AUTOMATIC GENERATION AND COMPRESSION OF CHINESE VECTOR FONTS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1204494B-37FE-4A23-B2DC-490C88B61B6F}"/>
              </a:ext>
            </a:extLst>
          </p:cNvPr>
          <p:cNvGrpSpPr/>
          <p:nvPr/>
        </p:nvGrpSpPr>
        <p:grpSpPr>
          <a:xfrm>
            <a:off x="1318585" y="4932321"/>
            <a:ext cx="6815655" cy="834743"/>
            <a:chOff x="2157974" y="6298808"/>
            <a:chExt cx="8252512" cy="315882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F7A07E6E-F32A-4641-913F-A37808A133A5}"/>
                </a:ext>
              </a:extLst>
            </p:cNvPr>
            <p:cNvSpPr txBox="1"/>
            <p:nvPr/>
          </p:nvSpPr>
          <p:spPr>
            <a:xfrm>
              <a:off x="2157975" y="6298808"/>
              <a:ext cx="3036108" cy="13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222A35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答辩人：高宜琛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61AA24C-52E3-45B4-94E6-5E4F2E649717}"/>
                </a:ext>
              </a:extLst>
            </p:cNvPr>
            <p:cNvSpPr txBox="1"/>
            <p:nvPr/>
          </p:nvSpPr>
          <p:spPr>
            <a:xfrm>
              <a:off x="2157974" y="6474928"/>
              <a:ext cx="3036108" cy="13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222A35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导</a:t>
              </a:r>
              <a:r>
                <a:rPr lang="zh-CN" altLang="en-US" sz="800" dirty="0">
                  <a:solidFill>
                    <a:srgbClr val="222A35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rgbClr val="222A35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   师：唐英敏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DDC0D3D-E776-4901-B1F9-A57D8CC35565}"/>
                </a:ext>
              </a:extLst>
            </p:cNvPr>
            <p:cNvSpPr txBox="1"/>
            <p:nvPr/>
          </p:nvSpPr>
          <p:spPr>
            <a:xfrm>
              <a:off x="6969584" y="6474928"/>
              <a:ext cx="3440902" cy="139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222A35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专    业：计算机应用技术</a:t>
              </a:r>
            </a:p>
          </p:txBody>
        </p:sp>
      </p:grp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9A5D609-7BF6-46CA-A41B-B59D917E76CF}"/>
              </a:ext>
            </a:extLst>
          </p:cNvPr>
          <p:cNvSpPr/>
          <p:nvPr/>
        </p:nvSpPr>
        <p:spPr>
          <a:xfrm>
            <a:off x="1511516" y="4281220"/>
            <a:ext cx="6118879" cy="45719"/>
          </a:xfrm>
          <a:custGeom>
            <a:avLst/>
            <a:gdLst>
              <a:gd name="connsiteX0" fmla="*/ 3158499 w 6118879"/>
              <a:gd name="connsiteY0" fmla="*/ 0 h 45719"/>
              <a:gd name="connsiteX1" fmla="*/ 6118879 w 6118879"/>
              <a:gd name="connsiteY1" fmla="*/ 0 h 45719"/>
              <a:gd name="connsiteX2" fmla="*/ 6118879 w 6118879"/>
              <a:gd name="connsiteY2" fmla="*/ 45719 h 45719"/>
              <a:gd name="connsiteX3" fmla="*/ 3158499 w 6118879"/>
              <a:gd name="connsiteY3" fmla="*/ 45719 h 45719"/>
              <a:gd name="connsiteX4" fmla="*/ 0 w 6118879"/>
              <a:gd name="connsiteY4" fmla="*/ 0 h 45719"/>
              <a:gd name="connsiteX5" fmla="*/ 2960379 w 6118879"/>
              <a:gd name="connsiteY5" fmla="*/ 0 h 45719"/>
              <a:gd name="connsiteX6" fmla="*/ 2960379 w 6118879"/>
              <a:gd name="connsiteY6" fmla="*/ 45719 h 45719"/>
              <a:gd name="connsiteX7" fmla="*/ 0 w 6118879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8879" h="45719">
                <a:moveTo>
                  <a:pt x="3158499" y="0"/>
                </a:moveTo>
                <a:lnTo>
                  <a:pt x="6118879" y="0"/>
                </a:lnTo>
                <a:lnTo>
                  <a:pt x="6118879" y="45719"/>
                </a:lnTo>
                <a:lnTo>
                  <a:pt x="3158499" y="45719"/>
                </a:lnTo>
                <a:close/>
                <a:moveTo>
                  <a:pt x="0" y="0"/>
                </a:moveTo>
                <a:lnTo>
                  <a:pt x="2960379" y="0"/>
                </a:lnTo>
                <a:lnTo>
                  <a:pt x="2960379" y="45719"/>
                </a:lnTo>
                <a:lnTo>
                  <a:pt x="0" y="45719"/>
                </a:lnTo>
                <a:close/>
              </a:path>
            </a:pathLst>
          </a:custGeom>
          <a:solidFill>
            <a:srgbClr val="AE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1EFC5749-C6F6-4FC6-B358-392C47D4951B}"/>
              </a:ext>
            </a:extLst>
          </p:cNvPr>
          <p:cNvSpPr/>
          <p:nvPr/>
        </p:nvSpPr>
        <p:spPr>
          <a:xfrm>
            <a:off x="4524788" y="4254162"/>
            <a:ext cx="92333" cy="92333"/>
          </a:xfrm>
          <a:prstGeom prst="diamond">
            <a:avLst/>
          </a:prstGeom>
          <a:solidFill>
            <a:srgbClr val="AE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6C397C7-64D0-45A3-A1AE-8006B96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0104" y="6375044"/>
            <a:ext cx="5981700" cy="360071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18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28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0E1976-49DE-40D7-A4F2-6A3A1C62BF1F}"/>
              </a:ext>
            </a:extLst>
          </p:cNvPr>
          <p:cNvSpPr txBox="1"/>
          <p:nvPr/>
        </p:nvSpPr>
        <p:spPr>
          <a:xfrm>
            <a:off x="5292439" y="4932321"/>
            <a:ext cx="264873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222A3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学    号：</a:t>
            </a:r>
            <a:r>
              <a:rPr lang="en-US" altLang="zh-CN" dirty="0">
                <a:solidFill>
                  <a:srgbClr val="222A35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1701214047</a:t>
            </a:r>
            <a:endParaRPr lang="zh-CN" altLang="en-US" dirty="0">
              <a:solidFill>
                <a:srgbClr val="222A35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>
            <a:extLst>
              <a:ext uri="{FF2B5EF4-FFF2-40B4-BE49-F238E27FC236}">
                <a16:creationId xmlns:a16="http://schemas.microsoft.com/office/drawing/2014/main" id="{3AF0425D-A102-44CA-8027-8D15412E2259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EDF9049-9AA2-4306-8243-536F2BC83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96455" y="4364016"/>
            <a:ext cx="6665290" cy="4818286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50D9F8FA-A0D1-4F02-BB2F-B71AE8F6EC88}"/>
              </a:ext>
            </a:extLst>
          </p:cNvPr>
          <p:cNvSpPr/>
          <p:nvPr/>
        </p:nvSpPr>
        <p:spPr>
          <a:xfrm>
            <a:off x="589281" y="476251"/>
            <a:ext cx="8034019" cy="5905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2B575640-9E9C-477C-8F54-3FB6AD908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017" y="3409284"/>
            <a:ext cx="1217175" cy="1217175"/>
          </a:xfrm>
          <a:prstGeom prst="rect">
            <a:avLst/>
          </a:prstGeom>
        </p:spPr>
      </p:pic>
      <p:grpSp>
        <p:nvGrpSpPr>
          <p:cNvPr id="88" name="组合 87">
            <a:extLst>
              <a:ext uri="{FF2B5EF4-FFF2-40B4-BE49-F238E27FC236}">
                <a16:creationId xmlns:a16="http://schemas.microsoft.com/office/drawing/2014/main" id="{38C705FA-5F70-4861-BC11-37A3E24DC2DC}"/>
              </a:ext>
            </a:extLst>
          </p:cNvPr>
          <p:cNvGrpSpPr/>
          <p:nvPr/>
        </p:nvGrpSpPr>
        <p:grpSpPr>
          <a:xfrm>
            <a:off x="1401563" y="1844702"/>
            <a:ext cx="2168084" cy="1500655"/>
            <a:chOff x="2522752" y="1044091"/>
            <a:chExt cx="2168084" cy="1500655"/>
          </a:xfrm>
        </p:grpSpPr>
        <p:sp>
          <p:nvSpPr>
            <p:cNvPr id="89" name="标题 1">
              <a:extLst>
                <a:ext uri="{FF2B5EF4-FFF2-40B4-BE49-F238E27FC236}">
                  <a16:creationId xmlns:a16="http://schemas.microsoft.com/office/drawing/2014/main" id="{454BAB14-7F09-4F27-9779-FCAD3DC5A3B9}"/>
                </a:ext>
              </a:extLst>
            </p:cNvPr>
            <p:cNvSpPr txBox="1">
              <a:spLocks/>
            </p:cNvSpPr>
            <p:nvPr/>
          </p:nvSpPr>
          <p:spPr>
            <a:xfrm>
              <a:off x="2525557" y="1044091"/>
              <a:ext cx="2165279" cy="1500655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rgbClr val="0070C0"/>
                  </a:solidFill>
                  <a:latin typeface="+mj-lt"/>
                  <a:ea typeface="微软雅黑" panose="020B0503020204020204" pitchFamily="34" charset="-122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2200" cap="none" spc="0" normalizeH="0" baseline="0" noProof="0" dirty="0">
                  <a:ln>
                    <a:noFill/>
                  </a:ln>
                  <a:solidFill>
                    <a:srgbClr val="AE3334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目  录</a:t>
              </a:r>
              <a:endParaRPr kumimoji="0" lang="en-US" altLang="zh-CN" sz="3200" b="1" i="0" u="none" strike="noStrike" kern="2200" cap="none" spc="0" normalizeH="0" baseline="0" noProof="0" dirty="0">
                <a:ln>
                  <a:noFill/>
                </a:ln>
                <a:solidFill>
                  <a:srgbClr val="AE3334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694A2D02-B22F-447E-A6C5-0B04F20CAEAC}"/>
                </a:ext>
              </a:extLst>
            </p:cNvPr>
            <p:cNvSpPr txBox="1"/>
            <p:nvPr/>
          </p:nvSpPr>
          <p:spPr>
            <a:xfrm>
              <a:off x="2522752" y="2033955"/>
              <a:ext cx="21680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2200" cap="none" spc="-20" normalizeH="0" baseline="0" noProof="0" dirty="0">
                  <a:ln>
                    <a:noFill/>
                  </a:ln>
                  <a:solidFill>
                    <a:srgbClr val="AE3334"/>
                  </a:solidFill>
                  <a:effectLst/>
                  <a:uLnTx/>
                  <a:uFillTx/>
                  <a:latin typeface="Arial" panose="020F0502020204030204"/>
                  <a:ea typeface="Microsoft YaHei"/>
                  <a:cs typeface="+mn-ea"/>
                  <a:sym typeface="+mn-lt"/>
                </a:rPr>
                <a:t>CONTENTS</a:t>
              </a:r>
              <a:endParaRPr kumimoji="0" lang="zh-CN" altLang="en-US" sz="1600" b="0" i="0" u="none" strike="noStrike" kern="2200" cap="none" spc="-20" normalizeH="0" baseline="0" noProof="0" dirty="0">
                <a:ln>
                  <a:noFill/>
                </a:ln>
                <a:solidFill>
                  <a:srgbClr val="AE3334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  <a:sym typeface="+mn-lt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613C189F-C8C8-4C5F-ACF7-D3623DDBEC2C}"/>
              </a:ext>
            </a:extLst>
          </p:cNvPr>
          <p:cNvGrpSpPr/>
          <p:nvPr/>
        </p:nvGrpSpPr>
        <p:grpSpPr>
          <a:xfrm>
            <a:off x="4643905" y="1600719"/>
            <a:ext cx="3910814" cy="3641132"/>
            <a:chOff x="4569157" y="1759599"/>
            <a:chExt cx="3910814" cy="3641132"/>
          </a:xfrm>
        </p:grpSpPr>
        <p:sp>
          <p:nvSpPr>
            <p:cNvPr id="91" name="文本占位符 40">
              <a:extLst>
                <a:ext uri="{FF2B5EF4-FFF2-40B4-BE49-F238E27FC236}">
                  <a16:creationId xmlns:a16="http://schemas.microsoft.com/office/drawing/2014/main" id="{1D6CC2E8-D607-4CF8-9543-B6AEC65495E4}"/>
                </a:ext>
              </a:extLst>
            </p:cNvPr>
            <p:cNvSpPr txBox="1">
              <a:spLocks/>
            </p:cNvSpPr>
            <p:nvPr/>
          </p:nvSpPr>
          <p:spPr>
            <a:xfrm>
              <a:off x="5408356" y="1836722"/>
              <a:ext cx="3071615" cy="4876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indent="0" algn="l" defTabSz="914400" rtl="0" eaLnBrk="1" latinLnBrk="0" hangingPunct="1">
                <a:buNone/>
                <a:defRPr lang="zh-CN" altLang="en-US" sz="2800" kern="12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</a:p>
          </p:txBody>
        </p:sp>
        <p:sp>
          <p:nvSpPr>
            <p:cNvPr id="92" name="文本占位符 40">
              <a:extLst>
                <a:ext uri="{FF2B5EF4-FFF2-40B4-BE49-F238E27FC236}">
                  <a16:creationId xmlns:a16="http://schemas.microsoft.com/office/drawing/2014/main" id="{5714DCD3-350B-4CDE-A5B2-02C410196272}"/>
                </a:ext>
              </a:extLst>
            </p:cNvPr>
            <p:cNvSpPr txBox="1">
              <a:spLocks/>
            </p:cNvSpPr>
            <p:nvPr/>
          </p:nvSpPr>
          <p:spPr>
            <a:xfrm>
              <a:off x="5408356" y="2586754"/>
              <a:ext cx="3071615" cy="4876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indent="0" algn="l" defTabSz="914400" rtl="0" eaLnBrk="1" latinLnBrk="0" hangingPunct="1">
                <a:buNone/>
                <a:defRPr lang="zh-CN" altLang="en-US" sz="2800" kern="12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研究综述</a:t>
              </a:r>
            </a:p>
          </p:txBody>
        </p:sp>
        <p:sp>
          <p:nvSpPr>
            <p:cNvPr id="93" name="文本占位符 40">
              <a:extLst>
                <a:ext uri="{FF2B5EF4-FFF2-40B4-BE49-F238E27FC236}">
                  <a16:creationId xmlns:a16="http://schemas.microsoft.com/office/drawing/2014/main" id="{E475D708-48CD-45C8-B31A-0548BF24126F}"/>
                </a:ext>
              </a:extLst>
            </p:cNvPr>
            <p:cNvSpPr txBox="1">
              <a:spLocks/>
            </p:cNvSpPr>
            <p:nvPr/>
          </p:nvSpPr>
          <p:spPr>
            <a:xfrm>
              <a:off x="5408356" y="3317736"/>
              <a:ext cx="3071615" cy="4876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indent="0" algn="l" defTabSz="914400" rtl="0" eaLnBrk="1" latinLnBrk="0" hangingPunct="1">
                <a:buNone/>
                <a:defRPr lang="zh-CN" altLang="en-US" sz="2800" kern="12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矢量中文字库生成</a:t>
              </a:r>
            </a:p>
          </p:txBody>
        </p:sp>
        <p:sp>
          <p:nvSpPr>
            <p:cNvPr id="94" name="文本占位符 40">
              <a:extLst>
                <a:ext uri="{FF2B5EF4-FFF2-40B4-BE49-F238E27FC236}">
                  <a16:creationId xmlns:a16="http://schemas.microsoft.com/office/drawing/2014/main" id="{2144298B-C662-434B-9BDF-092CDD159036}"/>
                </a:ext>
              </a:extLst>
            </p:cNvPr>
            <p:cNvSpPr txBox="1">
              <a:spLocks/>
            </p:cNvSpPr>
            <p:nvPr/>
          </p:nvSpPr>
          <p:spPr>
            <a:xfrm>
              <a:off x="5408356" y="4913051"/>
              <a:ext cx="3071615" cy="48768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lang="zh-CN" altLang="en-US" sz="2800" kern="12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+mn-ea"/>
                  <a:cs typeface="+mn-cs"/>
                </a:defRPr>
              </a:lvl1pPr>
              <a:lvl2pPr marL="457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  <p:sp>
          <p:nvSpPr>
            <p:cNvPr id="95" name="文本占位符 40">
              <a:extLst>
                <a:ext uri="{FF2B5EF4-FFF2-40B4-BE49-F238E27FC236}">
                  <a16:creationId xmlns:a16="http://schemas.microsoft.com/office/drawing/2014/main" id="{FAFD69C0-1EC2-4D2E-9846-7BE5323ACF9F}"/>
                </a:ext>
              </a:extLst>
            </p:cNvPr>
            <p:cNvSpPr txBox="1">
              <a:spLocks/>
            </p:cNvSpPr>
            <p:nvPr/>
          </p:nvSpPr>
          <p:spPr>
            <a:xfrm>
              <a:off x="5408356" y="4134443"/>
              <a:ext cx="3071615" cy="48768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lang="zh-CN" altLang="en-US" sz="2800" kern="1200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+mn-ea"/>
                  <a:cs typeface="+mn-cs"/>
                </a:defRPr>
              </a:lvl1pPr>
              <a:lvl2pPr marL="457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矢量中文字库压缩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64486F12-D79E-4C2F-A848-F6254186F239}"/>
                </a:ext>
              </a:extLst>
            </p:cNvPr>
            <p:cNvSpPr txBox="1"/>
            <p:nvPr/>
          </p:nvSpPr>
          <p:spPr>
            <a:xfrm>
              <a:off x="4569157" y="1759599"/>
              <a:ext cx="6758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9A0001"/>
                  </a:solidFill>
                </a:rPr>
                <a:t>01.</a:t>
              </a:r>
              <a:endParaRPr lang="zh-CN" altLang="en-US" sz="3200" b="1" dirty="0">
                <a:solidFill>
                  <a:srgbClr val="9A000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1F51972-1BC1-448D-A185-251A7C51E254}"/>
                </a:ext>
              </a:extLst>
            </p:cNvPr>
            <p:cNvSpPr txBox="1"/>
            <p:nvPr/>
          </p:nvSpPr>
          <p:spPr>
            <a:xfrm>
              <a:off x="4569157" y="2516034"/>
              <a:ext cx="6758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9A0001"/>
                  </a:solidFill>
                </a:rPr>
                <a:t>02.</a:t>
              </a:r>
              <a:endParaRPr lang="zh-CN" altLang="en-US" sz="3200" b="1" dirty="0">
                <a:solidFill>
                  <a:srgbClr val="9A0001"/>
                </a:solidFill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1BB4A396-42D6-41A0-997C-EB5BA2FC9E75}"/>
                </a:ext>
              </a:extLst>
            </p:cNvPr>
            <p:cNvSpPr txBox="1"/>
            <p:nvPr/>
          </p:nvSpPr>
          <p:spPr>
            <a:xfrm>
              <a:off x="4569157" y="3272469"/>
              <a:ext cx="6758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9A0001"/>
                  </a:solidFill>
                </a:rPr>
                <a:t>03.</a:t>
              </a:r>
              <a:endParaRPr lang="zh-CN" altLang="en-US" sz="3200" b="1" dirty="0">
                <a:solidFill>
                  <a:srgbClr val="9A0001"/>
                </a:solidFill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8C813F0D-05D5-4F57-ADEC-C14790BA481E}"/>
                </a:ext>
              </a:extLst>
            </p:cNvPr>
            <p:cNvSpPr txBox="1"/>
            <p:nvPr/>
          </p:nvSpPr>
          <p:spPr>
            <a:xfrm>
              <a:off x="4569157" y="4028904"/>
              <a:ext cx="6758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9A0001"/>
                  </a:solidFill>
                </a:rPr>
                <a:t>04.</a:t>
              </a:r>
              <a:endParaRPr lang="zh-CN" altLang="en-US" sz="3200" b="1" dirty="0">
                <a:solidFill>
                  <a:srgbClr val="9A0001"/>
                </a:solidFill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290EC494-7B2C-4BC1-91B7-93E989D17901}"/>
                </a:ext>
              </a:extLst>
            </p:cNvPr>
            <p:cNvSpPr txBox="1"/>
            <p:nvPr/>
          </p:nvSpPr>
          <p:spPr>
            <a:xfrm>
              <a:off x="4569157" y="4785339"/>
              <a:ext cx="6758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9A0001"/>
                  </a:solidFill>
                </a:rPr>
                <a:t>05.</a:t>
              </a:r>
              <a:endParaRPr lang="zh-CN" altLang="en-US" sz="3200" b="1" dirty="0">
                <a:solidFill>
                  <a:srgbClr val="9A0001"/>
                </a:solidFill>
              </a:endParaRPr>
            </a:p>
          </p:txBody>
        </p:sp>
      </p:grpSp>
      <p:sp>
        <p:nvSpPr>
          <p:cNvPr id="118" name="灯片编号占位符 117">
            <a:extLst>
              <a:ext uri="{FF2B5EF4-FFF2-40B4-BE49-F238E27FC236}">
                <a16:creationId xmlns:a16="http://schemas.microsoft.com/office/drawing/2014/main" id="{35068BEE-801F-43ED-BC47-E566933C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pPr/>
              <a:t>2</a:t>
            </a:fld>
            <a:r>
              <a:rPr lang="en-US" altLang="zh-CN"/>
              <a:t>/50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786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图片 167">
            <a:extLst>
              <a:ext uri="{FF2B5EF4-FFF2-40B4-BE49-F238E27FC236}">
                <a16:creationId xmlns:a16="http://schemas.microsoft.com/office/drawing/2014/main" id="{AC4DFD5A-B18D-4B34-AC6D-86280278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36" y="541314"/>
            <a:ext cx="2249619" cy="658425"/>
          </a:xfrm>
          <a:prstGeom prst="rect">
            <a:avLst/>
          </a:prstGeom>
        </p:spPr>
      </p:pic>
      <p:sp>
        <p:nvSpPr>
          <p:cNvPr id="169" name="矩形 168">
            <a:extLst>
              <a:ext uri="{FF2B5EF4-FFF2-40B4-BE49-F238E27FC236}">
                <a16:creationId xmlns:a16="http://schemas.microsoft.com/office/drawing/2014/main" id="{3274587D-36EC-4195-8AD2-DD23F49152B2}"/>
              </a:ext>
            </a:extLst>
          </p:cNvPr>
          <p:cNvSpPr/>
          <p:nvPr/>
        </p:nvSpPr>
        <p:spPr>
          <a:xfrm>
            <a:off x="0" y="1764872"/>
            <a:ext cx="9144000" cy="3328257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170" name="图形 169">
            <a:extLst>
              <a:ext uri="{FF2B5EF4-FFF2-40B4-BE49-F238E27FC236}">
                <a16:creationId xmlns:a16="http://schemas.microsoft.com/office/drawing/2014/main" id="{5A5B8011-6E7D-44AB-B1AE-3364C27C6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3" y="1572822"/>
            <a:ext cx="5135421" cy="3712356"/>
          </a:xfrm>
          <a:prstGeom prst="rect">
            <a:avLst/>
          </a:prstGeom>
        </p:spPr>
      </p:pic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F663AE3-BB17-4A00-B330-EAE1828DAAA1}"/>
              </a:ext>
            </a:extLst>
          </p:cNvPr>
          <p:cNvCxnSpPr>
            <a:cxnSpLocks/>
          </p:cNvCxnSpPr>
          <p:nvPr/>
        </p:nvCxnSpPr>
        <p:spPr>
          <a:xfrm>
            <a:off x="959459" y="3428999"/>
            <a:ext cx="3613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本占位符 3">
            <a:extLst>
              <a:ext uri="{FF2B5EF4-FFF2-40B4-BE49-F238E27FC236}">
                <a16:creationId xmlns:a16="http://schemas.microsoft.com/office/drawing/2014/main" id="{D1350D61-3E23-458F-808C-AD11B7A59211}"/>
              </a:ext>
            </a:extLst>
          </p:cNvPr>
          <p:cNvSpPr txBox="1">
            <a:spLocks/>
          </p:cNvSpPr>
          <p:nvPr/>
        </p:nvSpPr>
        <p:spPr>
          <a:xfrm>
            <a:off x="2144990" y="2652357"/>
            <a:ext cx="2106499" cy="70788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l" defTabSz="914400" rtl="0" eaLnBrk="1" latinLnBrk="0" hangingPunct="1">
              <a:buFontTx/>
              <a:buNone/>
              <a:defRPr kumimoji="0" lang="zh-CN" altLang="en-US" sz="40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3200" dirty="0"/>
              <a:t>01</a:t>
            </a:r>
            <a:endParaRPr lang="en-US" sz="3200" dirty="0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F7C32533-F4BD-4563-B6AE-79A5CD616B7B}"/>
              </a:ext>
            </a:extLst>
          </p:cNvPr>
          <p:cNvSpPr/>
          <p:nvPr/>
        </p:nvSpPr>
        <p:spPr>
          <a:xfrm>
            <a:off x="875308" y="2713913"/>
            <a:ext cx="1503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altLang="zh-CN" sz="32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rPr>
              <a:t>PART</a:t>
            </a:r>
            <a:endParaRPr kumimoji="0" lang="zh-CN" altLang="en-US" sz="32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</a:endParaRPr>
          </a:p>
        </p:txBody>
      </p:sp>
      <p:sp>
        <p:nvSpPr>
          <p:cNvPr id="175" name="文本占位符 3">
            <a:extLst>
              <a:ext uri="{FF2B5EF4-FFF2-40B4-BE49-F238E27FC236}">
                <a16:creationId xmlns:a16="http://schemas.microsoft.com/office/drawing/2014/main" id="{CAF1CD63-23DA-452F-B920-AC2CAA27B1B1}"/>
              </a:ext>
            </a:extLst>
          </p:cNvPr>
          <p:cNvSpPr txBox="1">
            <a:spLocks/>
          </p:cNvSpPr>
          <p:nvPr/>
        </p:nvSpPr>
        <p:spPr>
          <a:xfrm>
            <a:off x="875308" y="3520752"/>
            <a:ext cx="7299999" cy="887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FontTx/>
              <a:buNone/>
              <a:defRPr lang="zh-CN" altLang="en-US" sz="4800" b="1" kern="1200" spc="400" dirty="0" smtClean="0">
                <a:solidFill>
                  <a:prstClr val="white"/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/>
              <a:t>绪    论</a:t>
            </a:r>
          </a:p>
        </p:txBody>
      </p:sp>
      <p:sp>
        <p:nvSpPr>
          <p:cNvPr id="190" name="灯片编号占位符 189">
            <a:extLst>
              <a:ext uri="{FF2B5EF4-FFF2-40B4-BE49-F238E27FC236}">
                <a16:creationId xmlns:a16="http://schemas.microsoft.com/office/drawing/2014/main" id="{42F362A2-45BD-40A2-A244-95437A3D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pPr/>
              <a:t>3</a:t>
            </a:fld>
            <a:r>
              <a:rPr lang="en-US" altLang="zh-CN"/>
              <a:t>/50</a:t>
            </a:r>
            <a:endParaRPr lang="zh-CN" altLang="en-US" dirty="0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8ECAB25-5BA6-48C6-ACFC-8560250B1A7A}"/>
              </a:ext>
            </a:extLst>
          </p:cNvPr>
          <p:cNvSpPr txBox="1"/>
          <p:nvPr/>
        </p:nvSpPr>
        <p:spPr>
          <a:xfrm>
            <a:off x="899118" y="4247593"/>
            <a:ext cx="210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zh-CN" altLang="en-US" sz="2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9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图片 167">
            <a:extLst>
              <a:ext uri="{FF2B5EF4-FFF2-40B4-BE49-F238E27FC236}">
                <a16:creationId xmlns:a16="http://schemas.microsoft.com/office/drawing/2014/main" id="{AC4DFD5A-B18D-4B34-AC6D-86280278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36" y="541314"/>
            <a:ext cx="2249619" cy="658425"/>
          </a:xfrm>
          <a:prstGeom prst="rect">
            <a:avLst/>
          </a:prstGeom>
        </p:spPr>
      </p:pic>
      <p:sp>
        <p:nvSpPr>
          <p:cNvPr id="169" name="矩形 168">
            <a:extLst>
              <a:ext uri="{FF2B5EF4-FFF2-40B4-BE49-F238E27FC236}">
                <a16:creationId xmlns:a16="http://schemas.microsoft.com/office/drawing/2014/main" id="{3274587D-36EC-4195-8AD2-DD23F49152B2}"/>
              </a:ext>
            </a:extLst>
          </p:cNvPr>
          <p:cNvSpPr/>
          <p:nvPr/>
        </p:nvSpPr>
        <p:spPr>
          <a:xfrm>
            <a:off x="0" y="1764872"/>
            <a:ext cx="9144000" cy="3328257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170" name="图形 169">
            <a:extLst>
              <a:ext uri="{FF2B5EF4-FFF2-40B4-BE49-F238E27FC236}">
                <a16:creationId xmlns:a16="http://schemas.microsoft.com/office/drawing/2014/main" id="{5A5B8011-6E7D-44AB-B1AE-3364C27C6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3" y="1572822"/>
            <a:ext cx="5135421" cy="3712356"/>
          </a:xfrm>
          <a:prstGeom prst="rect">
            <a:avLst/>
          </a:prstGeom>
        </p:spPr>
      </p:pic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F663AE3-BB17-4A00-B330-EAE1828DAAA1}"/>
              </a:ext>
            </a:extLst>
          </p:cNvPr>
          <p:cNvCxnSpPr>
            <a:cxnSpLocks/>
          </p:cNvCxnSpPr>
          <p:nvPr/>
        </p:nvCxnSpPr>
        <p:spPr>
          <a:xfrm>
            <a:off x="959459" y="3428999"/>
            <a:ext cx="3613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F9744B2-6F7D-47BB-9E28-5456C3BB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pPr/>
              <a:t>4</a:t>
            </a:fld>
            <a:r>
              <a:rPr lang="en-US" altLang="zh-CN"/>
              <a:t>/50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CDD683-4A3A-4648-AD46-6B5032017187}"/>
              </a:ext>
            </a:extLst>
          </p:cNvPr>
          <p:cNvSpPr/>
          <p:nvPr/>
        </p:nvSpPr>
        <p:spPr>
          <a:xfrm>
            <a:off x="875308" y="2713913"/>
            <a:ext cx="1503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altLang="zh-CN" sz="32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rPr>
              <a:t>PART</a:t>
            </a:r>
            <a:endParaRPr kumimoji="0" lang="zh-CN" altLang="en-US" sz="32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</a:endParaRPr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55A74BBA-38F9-4370-B8A4-E53BC646F160}"/>
              </a:ext>
            </a:extLst>
          </p:cNvPr>
          <p:cNvSpPr txBox="1">
            <a:spLocks/>
          </p:cNvSpPr>
          <p:nvPr/>
        </p:nvSpPr>
        <p:spPr>
          <a:xfrm>
            <a:off x="2144990" y="2652357"/>
            <a:ext cx="2106499" cy="70788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l" defTabSz="914400" rtl="0" eaLnBrk="1" latinLnBrk="0" hangingPunct="1">
              <a:buFontTx/>
              <a:buNone/>
              <a:defRPr kumimoji="0" lang="zh-CN" altLang="en-US" sz="40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3200" dirty="0"/>
              <a:t>02</a:t>
            </a:r>
            <a:endParaRPr lang="en-US" sz="3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6B122E-A234-4633-9412-FF1CF7B3B6A2}"/>
              </a:ext>
            </a:extLst>
          </p:cNvPr>
          <p:cNvSpPr txBox="1"/>
          <p:nvPr/>
        </p:nvSpPr>
        <p:spPr>
          <a:xfrm>
            <a:off x="899118" y="4247593"/>
            <a:ext cx="2998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zh-CN" altLang="en-US" sz="2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占位符 3">
            <a:extLst>
              <a:ext uri="{FF2B5EF4-FFF2-40B4-BE49-F238E27FC236}">
                <a16:creationId xmlns:a16="http://schemas.microsoft.com/office/drawing/2014/main" id="{2A952443-17A6-4295-BAED-1F8CB776CA25}"/>
              </a:ext>
            </a:extLst>
          </p:cNvPr>
          <p:cNvSpPr txBox="1">
            <a:spLocks/>
          </p:cNvSpPr>
          <p:nvPr/>
        </p:nvSpPr>
        <p:spPr>
          <a:xfrm>
            <a:off x="875308" y="3520752"/>
            <a:ext cx="7299999" cy="887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FontTx/>
              <a:buNone/>
              <a:defRPr lang="zh-CN" altLang="en-US" sz="4800" b="1" kern="1200" spc="400" dirty="0" smtClean="0">
                <a:solidFill>
                  <a:prstClr val="white"/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/>
              <a:t>研究综述</a:t>
            </a:r>
          </a:p>
        </p:txBody>
      </p:sp>
    </p:spTree>
    <p:extLst>
      <p:ext uri="{BB962C8B-B14F-4D97-AF65-F5344CB8AC3E}">
        <p14:creationId xmlns:p14="http://schemas.microsoft.com/office/powerpoint/2010/main" val="240998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图片 167">
            <a:extLst>
              <a:ext uri="{FF2B5EF4-FFF2-40B4-BE49-F238E27FC236}">
                <a16:creationId xmlns:a16="http://schemas.microsoft.com/office/drawing/2014/main" id="{AC4DFD5A-B18D-4B34-AC6D-86280278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36" y="541314"/>
            <a:ext cx="2249619" cy="658425"/>
          </a:xfrm>
          <a:prstGeom prst="rect">
            <a:avLst/>
          </a:prstGeom>
        </p:spPr>
      </p:pic>
      <p:sp>
        <p:nvSpPr>
          <p:cNvPr id="169" name="矩形 168">
            <a:extLst>
              <a:ext uri="{FF2B5EF4-FFF2-40B4-BE49-F238E27FC236}">
                <a16:creationId xmlns:a16="http://schemas.microsoft.com/office/drawing/2014/main" id="{3274587D-36EC-4195-8AD2-DD23F49152B2}"/>
              </a:ext>
            </a:extLst>
          </p:cNvPr>
          <p:cNvSpPr/>
          <p:nvPr/>
        </p:nvSpPr>
        <p:spPr>
          <a:xfrm>
            <a:off x="0" y="1764872"/>
            <a:ext cx="9144000" cy="3328257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170" name="图形 169">
            <a:extLst>
              <a:ext uri="{FF2B5EF4-FFF2-40B4-BE49-F238E27FC236}">
                <a16:creationId xmlns:a16="http://schemas.microsoft.com/office/drawing/2014/main" id="{5A5B8011-6E7D-44AB-B1AE-3364C27C6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3" y="1572822"/>
            <a:ext cx="5135421" cy="3712356"/>
          </a:xfrm>
          <a:prstGeom prst="rect">
            <a:avLst/>
          </a:prstGeom>
        </p:spPr>
      </p:pic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F663AE3-BB17-4A00-B330-EAE1828DAAA1}"/>
              </a:ext>
            </a:extLst>
          </p:cNvPr>
          <p:cNvCxnSpPr>
            <a:cxnSpLocks/>
          </p:cNvCxnSpPr>
          <p:nvPr/>
        </p:nvCxnSpPr>
        <p:spPr>
          <a:xfrm>
            <a:off x="959459" y="3428999"/>
            <a:ext cx="3613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851D19B1-48F8-4540-B702-4848E134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pPr/>
              <a:t>5</a:t>
            </a:fld>
            <a:r>
              <a:rPr lang="en-US" altLang="zh-CN"/>
              <a:t>/50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B80C31-7D47-42B0-9CD2-355C1D329082}"/>
              </a:ext>
            </a:extLst>
          </p:cNvPr>
          <p:cNvSpPr/>
          <p:nvPr/>
        </p:nvSpPr>
        <p:spPr>
          <a:xfrm>
            <a:off x="875308" y="2713913"/>
            <a:ext cx="1503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altLang="zh-CN" sz="32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rPr>
              <a:t>PART</a:t>
            </a:r>
            <a:endParaRPr kumimoji="0" lang="zh-CN" altLang="en-US" sz="32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</a:endParaRPr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00463F7B-EA2C-4BF2-B129-7D96CF29D578}"/>
              </a:ext>
            </a:extLst>
          </p:cNvPr>
          <p:cNvSpPr txBox="1">
            <a:spLocks/>
          </p:cNvSpPr>
          <p:nvPr/>
        </p:nvSpPr>
        <p:spPr>
          <a:xfrm>
            <a:off x="2144990" y="2652357"/>
            <a:ext cx="2106499" cy="70788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l" defTabSz="914400" rtl="0" eaLnBrk="1" latinLnBrk="0" hangingPunct="1">
              <a:buFontTx/>
              <a:buNone/>
              <a:defRPr kumimoji="0" lang="zh-CN" altLang="en-US" sz="40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3200" dirty="0"/>
              <a:t>03</a:t>
            </a:r>
            <a:endParaRPr lang="en-US" sz="3200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8E989E65-EF8D-4C7C-BCD1-0F41C74A5061}"/>
              </a:ext>
            </a:extLst>
          </p:cNvPr>
          <p:cNvSpPr txBox="1">
            <a:spLocks/>
          </p:cNvSpPr>
          <p:nvPr/>
        </p:nvSpPr>
        <p:spPr>
          <a:xfrm>
            <a:off x="875308" y="3520752"/>
            <a:ext cx="7299999" cy="887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FontTx/>
              <a:buNone/>
              <a:defRPr lang="zh-CN" altLang="en-US" sz="4800" b="1" kern="1200" spc="400" dirty="0" smtClean="0">
                <a:solidFill>
                  <a:prstClr val="white"/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/>
              <a:t>矢量中文字库自动生成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B6EE924-876A-4047-8ACE-D4FF0C7EEF05}"/>
              </a:ext>
            </a:extLst>
          </p:cNvPr>
          <p:cNvSpPr txBox="1"/>
          <p:nvPr/>
        </p:nvSpPr>
        <p:spPr>
          <a:xfrm>
            <a:off x="899118" y="4247593"/>
            <a:ext cx="657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Generation of Chinese Vector Fonts</a:t>
            </a:r>
            <a:endParaRPr lang="zh-CN" altLang="en-US" sz="2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6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图片 167">
            <a:extLst>
              <a:ext uri="{FF2B5EF4-FFF2-40B4-BE49-F238E27FC236}">
                <a16:creationId xmlns:a16="http://schemas.microsoft.com/office/drawing/2014/main" id="{AC4DFD5A-B18D-4B34-AC6D-86280278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36" y="541314"/>
            <a:ext cx="2249619" cy="658425"/>
          </a:xfrm>
          <a:prstGeom prst="rect">
            <a:avLst/>
          </a:prstGeom>
        </p:spPr>
      </p:pic>
      <p:sp>
        <p:nvSpPr>
          <p:cNvPr id="169" name="矩形 168">
            <a:extLst>
              <a:ext uri="{FF2B5EF4-FFF2-40B4-BE49-F238E27FC236}">
                <a16:creationId xmlns:a16="http://schemas.microsoft.com/office/drawing/2014/main" id="{3274587D-36EC-4195-8AD2-DD23F49152B2}"/>
              </a:ext>
            </a:extLst>
          </p:cNvPr>
          <p:cNvSpPr/>
          <p:nvPr/>
        </p:nvSpPr>
        <p:spPr>
          <a:xfrm>
            <a:off x="0" y="1764872"/>
            <a:ext cx="9144000" cy="3328257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170" name="图形 169">
            <a:extLst>
              <a:ext uri="{FF2B5EF4-FFF2-40B4-BE49-F238E27FC236}">
                <a16:creationId xmlns:a16="http://schemas.microsoft.com/office/drawing/2014/main" id="{5A5B8011-6E7D-44AB-B1AE-3364C27C6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3" y="1572822"/>
            <a:ext cx="5135421" cy="3712356"/>
          </a:xfrm>
          <a:prstGeom prst="rect">
            <a:avLst/>
          </a:prstGeom>
        </p:spPr>
      </p:pic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F663AE3-BB17-4A00-B330-EAE1828DAAA1}"/>
              </a:ext>
            </a:extLst>
          </p:cNvPr>
          <p:cNvCxnSpPr>
            <a:cxnSpLocks/>
          </p:cNvCxnSpPr>
          <p:nvPr/>
        </p:nvCxnSpPr>
        <p:spPr>
          <a:xfrm>
            <a:off x="959459" y="3428999"/>
            <a:ext cx="3613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C7D99D0C-095E-4EA8-A589-F3B23D5B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pPr/>
              <a:t>6</a:t>
            </a:fld>
            <a:r>
              <a:rPr lang="en-US" altLang="zh-CN"/>
              <a:t>/50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AFAE14-B096-4E62-A968-88541CE33723}"/>
              </a:ext>
            </a:extLst>
          </p:cNvPr>
          <p:cNvSpPr/>
          <p:nvPr/>
        </p:nvSpPr>
        <p:spPr>
          <a:xfrm>
            <a:off x="875308" y="2713913"/>
            <a:ext cx="1503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altLang="zh-CN" sz="32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rPr>
              <a:t>PART</a:t>
            </a:r>
            <a:endParaRPr kumimoji="0" lang="zh-CN" altLang="en-US" sz="32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</a:endParaRPr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0F429BFD-3EBD-4156-B301-BF599119FDFD}"/>
              </a:ext>
            </a:extLst>
          </p:cNvPr>
          <p:cNvSpPr txBox="1">
            <a:spLocks/>
          </p:cNvSpPr>
          <p:nvPr/>
        </p:nvSpPr>
        <p:spPr>
          <a:xfrm>
            <a:off x="2144990" y="2652357"/>
            <a:ext cx="2106499" cy="70788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l" defTabSz="914400" rtl="0" eaLnBrk="1" latinLnBrk="0" hangingPunct="1">
              <a:buFontTx/>
              <a:buNone/>
              <a:defRPr kumimoji="0" lang="zh-CN" altLang="en-US" sz="40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3200" dirty="0"/>
              <a:t>04</a:t>
            </a:r>
            <a:endParaRPr lang="en-US" sz="3200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ED552CB0-38B6-4F03-A66B-086645A29F17}"/>
              </a:ext>
            </a:extLst>
          </p:cNvPr>
          <p:cNvSpPr txBox="1">
            <a:spLocks/>
          </p:cNvSpPr>
          <p:nvPr/>
        </p:nvSpPr>
        <p:spPr>
          <a:xfrm>
            <a:off x="875308" y="3520752"/>
            <a:ext cx="7299999" cy="887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FontTx/>
              <a:buNone/>
              <a:defRPr lang="zh-CN" altLang="en-US" sz="4800" b="1" kern="1200" spc="400" dirty="0" smtClean="0">
                <a:solidFill>
                  <a:prstClr val="white"/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/>
              <a:t>矢量中文字库自动压缩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27AA90-B6B9-432C-920C-AD85E4ACC13A}"/>
              </a:ext>
            </a:extLst>
          </p:cNvPr>
          <p:cNvSpPr txBox="1"/>
          <p:nvPr/>
        </p:nvSpPr>
        <p:spPr>
          <a:xfrm>
            <a:off x="899118" y="4247593"/>
            <a:ext cx="6831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Compression of Chinese Vector Fonts</a:t>
            </a:r>
            <a:endParaRPr lang="zh-CN" altLang="en-US" sz="2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371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图片 167">
            <a:extLst>
              <a:ext uri="{FF2B5EF4-FFF2-40B4-BE49-F238E27FC236}">
                <a16:creationId xmlns:a16="http://schemas.microsoft.com/office/drawing/2014/main" id="{AC4DFD5A-B18D-4B34-AC6D-86280278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36" y="541314"/>
            <a:ext cx="2249619" cy="658425"/>
          </a:xfrm>
          <a:prstGeom prst="rect">
            <a:avLst/>
          </a:prstGeom>
        </p:spPr>
      </p:pic>
      <p:sp>
        <p:nvSpPr>
          <p:cNvPr id="169" name="矩形 168">
            <a:extLst>
              <a:ext uri="{FF2B5EF4-FFF2-40B4-BE49-F238E27FC236}">
                <a16:creationId xmlns:a16="http://schemas.microsoft.com/office/drawing/2014/main" id="{3274587D-36EC-4195-8AD2-DD23F49152B2}"/>
              </a:ext>
            </a:extLst>
          </p:cNvPr>
          <p:cNvSpPr/>
          <p:nvPr/>
        </p:nvSpPr>
        <p:spPr>
          <a:xfrm>
            <a:off x="0" y="1764872"/>
            <a:ext cx="9144000" cy="3328257"/>
          </a:xfrm>
          <a:prstGeom prst="rect">
            <a:avLst/>
          </a:prstGeom>
          <a:solidFill>
            <a:srgbClr val="9A00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  <a:sym typeface="+mn-lt"/>
            </a:endParaRPr>
          </a:p>
        </p:txBody>
      </p:sp>
      <p:pic>
        <p:nvPicPr>
          <p:cNvPr id="170" name="图形 169">
            <a:extLst>
              <a:ext uri="{FF2B5EF4-FFF2-40B4-BE49-F238E27FC236}">
                <a16:creationId xmlns:a16="http://schemas.microsoft.com/office/drawing/2014/main" id="{5A5B8011-6E7D-44AB-B1AE-3364C27C6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3" y="1572822"/>
            <a:ext cx="5135421" cy="3712356"/>
          </a:xfrm>
          <a:prstGeom prst="rect">
            <a:avLst/>
          </a:prstGeom>
        </p:spPr>
      </p:pic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F663AE3-BB17-4A00-B330-EAE1828DAAA1}"/>
              </a:ext>
            </a:extLst>
          </p:cNvPr>
          <p:cNvCxnSpPr>
            <a:cxnSpLocks/>
          </p:cNvCxnSpPr>
          <p:nvPr/>
        </p:nvCxnSpPr>
        <p:spPr>
          <a:xfrm>
            <a:off x="959459" y="3428999"/>
            <a:ext cx="36134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A7627FE-C415-4353-A8AF-8D1BC3BC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3C2F6-E224-4DE8-ABB8-1B4A7B626BCD}" type="slidenum">
              <a:rPr lang="zh-CN" altLang="en-US" smtClean="0"/>
              <a:pPr/>
              <a:t>7</a:t>
            </a:fld>
            <a:r>
              <a:rPr lang="en-US" altLang="zh-CN"/>
              <a:t>/50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6FD293-559D-4779-86D4-4386E436A3EC}"/>
              </a:ext>
            </a:extLst>
          </p:cNvPr>
          <p:cNvSpPr/>
          <p:nvPr/>
        </p:nvSpPr>
        <p:spPr>
          <a:xfrm>
            <a:off x="875308" y="2713913"/>
            <a:ext cx="15030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altLang="zh-CN" sz="32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rPr>
              <a:t>PART</a:t>
            </a:r>
            <a:endParaRPr kumimoji="0" lang="zh-CN" altLang="en-US" sz="32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Microsoft YaHei"/>
              <a:cs typeface="+mn-ea"/>
            </a:endParaRPr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5EDC6ED5-BC70-4CBE-A521-A8D919AE2464}"/>
              </a:ext>
            </a:extLst>
          </p:cNvPr>
          <p:cNvSpPr txBox="1">
            <a:spLocks/>
          </p:cNvSpPr>
          <p:nvPr/>
        </p:nvSpPr>
        <p:spPr>
          <a:xfrm>
            <a:off x="2144990" y="2652357"/>
            <a:ext cx="2106499" cy="70788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indent="0" algn="l" defTabSz="914400" rtl="0" eaLnBrk="1" latinLnBrk="0" hangingPunct="1">
              <a:buFontTx/>
              <a:buNone/>
              <a:defRPr kumimoji="0" lang="zh-CN" altLang="en-US" sz="40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3200" dirty="0"/>
              <a:t>05</a:t>
            </a:r>
            <a:endParaRPr lang="en-US" sz="3200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6BE4F377-47E3-4089-8F44-D265FB273E8B}"/>
              </a:ext>
            </a:extLst>
          </p:cNvPr>
          <p:cNvSpPr txBox="1">
            <a:spLocks/>
          </p:cNvSpPr>
          <p:nvPr/>
        </p:nvSpPr>
        <p:spPr>
          <a:xfrm>
            <a:off x="875308" y="3520752"/>
            <a:ext cx="7299999" cy="887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FontTx/>
              <a:buNone/>
              <a:defRPr lang="zh-CN" altLang="en-US" sz="4800" b="1" kern="1200" spc="400" dirty="0" smtClean="0">
                <a:solidFill>
                  <a:prstClr val="white"/>
                </a:solidFill>
                <a:latin typeface="Arial" panose="020F0502020204030204"/>
                <a:ea typeface="Microsoft YaHei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dirty="0"/>
              <a:t>总结与展望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1E33B32-85C3-47A1-AF53-E28CBABC6748}"/>
              </a:ext>
            </a:extLst>
          </p:cNvPr>
          <p:cNvSpPr txBox="1"/>
          <p:nvPr/>
        </p:nvSpPr>
        <p:spPr>
          <a:xfrm>
            <a:off x="899118" y="4247593"/>
            <a:ext cx="657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 and Future Research</a:t>
            </a:r>
            <a:endParaRPr lang="zh-CN" altLang="en-US" sz="2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943561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953</TotalTime>
  <Words>122</Words>
  <Application>Microsoft Office PowerPoint</Application>
  <PresentationFormat>全屏显示(4:3)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1701214047_高宜琛_矢量中文字库的自动生成与压缩</dc:title>
  <dc:creator>YCIrving</dc:creator>
  <cp:keywords>北京大学硕士研究生学位论文答辩PPT</cp:keywords>
  <cp:lastModifiedBy>高 宜琛</cp:lastModifiedBy>
  <cp:revision>30</cp:revision>
  <dcterms:created xsi:type="dcterms:W3CDTF">2020-05-24T13:09:38Z</dcterms:created>
  <dcterms:modified xsi:type="dcterms:W3CDTF">2020-05-26T02:13:04Z</dcterms:modified>
</cp:coreProperties>
</file>